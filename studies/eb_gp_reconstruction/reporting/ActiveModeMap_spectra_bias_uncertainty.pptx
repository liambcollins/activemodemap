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0662C"/>
                </a:solidFill>
                <a:latin typeface="Aptos"/>
              </a:rPr>
              <a:t>ACTIVE MODE MAP  ·  SCM-PIT  ·  MULTI75G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04288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373A36"/>
                </a:solidFill>
                <a:latin typeface="Aptos"/>
              </a:rPr>
              <a:t>Reconstructing the full complex spectrum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00454D"/>
                </a:solidFill>
                <a:latin typeface="Aptos"/>
              </a:rPr>
              <a:t>amplitude, phase, bias dependence, and honest error bars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6E716D"/>
                </a:solidFill>
                <a:latin typeface="Aptos"/>
              </a:rPr>
              <a:t>Both forward models (two-segment Euler–Bernoulli and the geometry-faithful FEM), each bare and with a discrepancy GP, and a model-light GP baseline — reconstructing the mode-A contact resonance from 8 of 101 measured positions and now carrying the phase channel, not only log-amplitude.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6E716D"/>
                </a:solidFill>
                <a:latin typeface="Aptos"/>
              </a:rPr>
              <a:t>Dense_Grid_A · 101 positions × 412 frequencies · 14 August 2026</a:t>
            </a:r>
          </a:p>
        </p:txBody>
      </p:sp>
      <p:pic>
        <p:nvPicPr>
          <p:cNvPr id="7" name="Picture 6" descr="orn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RECONSTRUCTED SPECTRUM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Amplitude: 8 of 101 positions reproduce the map to 2.9 %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9264"/>
            <a:ext cx="11423599" cy="5705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0662C"/>
                </a:solidFill>
                <a:latin typeface="Aptos"/>
              </a:rPr>
              <a:t>Bare physics 6.3–6.4 %; with the GP either model reaches 2.9 %, the same as the GP alone.  </a:t>
            </a:r>
            <a:r>
              <a:rPr sz="1200">
                <a:solidFill>
                  <a:srgbClr val="373A36"/>
                </a:solidFill>
                <a:latin typeface="Aptos"/>
              </a:rPr>
              <a:t>Both libraries were rebuilt here and reproduce the published log-amplitude arms exactly (EB 6.53 / 2.41, FEM 6.31 / 1.94, GP 3.41 %).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662C"/>
                </a:solidFill>
                <a:latin typeface="Aptos"/>
              </a:rPr>
              <a:t>It earns its place at the node.  </a:t>
            </a:r>
            <a:r>
              <a:rPr sz="1200">
                <a:solidFill>
                  <a:srgbClr val="373A36"/>
                </a:solidFill>
                <a:latin typeface="Aptos"/>
              </a:rPr>
              <a:t>EB + GP and FEM + GP both land 0.15 µm from the true 224.09 µm; bare EB is 1.8 µm out, bare FEM 1.0 µm, and the GP alone never finds a crossing in span — 3 µm out at every budget from 4 to 30 positions.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662C"/>
                </a:solidFill>
                <a:latin typeface="Aptos"/>
              </a:rPr>
              <a:t>Do NOT read the fitted k₁ off this slide.  </a:t>
            </a:r>
            <a:r>
              <a:rPr sz="1200">
                <a:solidFill>
                  <a:srgbClr val="373A36"/>
                </a:solidFill>
                <a:latin typeface="Aptos"/>
              </a:rPr>
              <a:t>EB fits 374 N/m here and FEM 1254, but neither is identified by band A: the mode-2 ratio puts EB at 1044 N/m, essentially Hertz. See slide 5.</a:t>
            </a:r>
          </a:p>
        </p:txBody>
      </p:sp>
      <p:pic>
        <p:nvPicPr>
          <p:cNvPr id="5" name="Picture 4" descr="d1_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082" y="1901952"/>
            <a:ext cx="9623530" cy="4773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2</a:t>
            </a:r>
          </a:p>
        </p:txBody>
      </p:sp>
      <p:pic>
        <p:nvPicPr>
          <p:cNvPr id="7" name="Picture 6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RECONSTRUCTED SPECTRUM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Phase: both forward models get it wrong the same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9264"/>
            <a:ext cx="11423599" cy="5705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0662C"/>
                </a:solidFill>
                <a:latin typeface="Aptos"/>
              </a:rPr>
              <a:t>EB alone 42.4°, FEM alone 41.4° — 142 % and 144 % on the complex field, worse than predicting zero.  </a:t>
            </a:r>
            <a:r>
              <a:rPr sz="1200">
                <a:solidFill>
                  <a:srgbClr val="373A36"/>
                </a:solidFill>
                <a:latin typeface="Aptos"/>
              </a:rPr>
              <a:t>One complex gain absorbs the detector’s reference phase, so what is left is model error. Two unrelated models, independently fitted and operating at k₁ values 3× apart, fail by the same 41–42° and take the antiresonance branch the same wrong way.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662C"/>
                </a:solidFill>
                <a:latin typeface="Aptos"/>
              </a:rPr>
              <a:t>Not a mis-set resonance either.  </a:t>
            </a:r>
            <a:r>
              <a:rPr sz="1200">
                <a:solidFill>
                  <a:srgbClr val="373A36"/>
                </a:solidFill>
                <a:latin typeface="Aptos"/>
              </a:rPr>
              <a:t>Refitting f_res and damping against the complex residual only makes it worse — the discrepancy is structural.</a:t>
            </a:r>
          </a:p>
        </p:txBody>
      </p:sp>
      <p:pic>
        <p:nvPicPr>
          <p:cNvPr id="5" name="Picture 4" descr="d2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082" y="1901952"/>
            <a:ext cx="9623530" cy="4773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3</a:t>
            </a:r>
          </a:p>
        </p:txBody>
      </p:sp>
      <p:pic>
        <p:nvPicPr>
          <p:cNvPr id="7" name="Picture 6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RECONSTRUCTION VS RAW DATA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Transfer functions at withheld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9264"/>
            <a:ext cx="11423599" cy="5705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0662C"/>
                </a:solidFill>
                <a:latin typeface="Aptos"/>
              </a:rPr>
              <a:t>Four positions none of the arms was shown, across 265–1000 kHz so both contact modes are in frame.  </a:t>
            </a:r>
            <a:r>
              <a:rPr sz="1200">
                <a:solidFill>
                  <a:srgbClr val="373A36"/>
                </a:solidFill>
                <a:latin typeface="Aptos"/>
              </a:rPr>
              <a:t>Median |error| over all 93 withheld positions: 0.29 dB for EB two-band + GP and 0.30 dB for the GP alone, against 3.33 dB for the bare two-band physics — which misplaces the antiresonance and inverts the phase branch, visible as the pale blue line leaving the data between the two modes. Grey bands mark raw |Z| below 3× the noise floor, where the measured phase is not reliable and nothing should match it.</a:t>
            </a:r>
          </a:p>
        </p:txBody>
      </p:sp>
      <p:pic>
        <p:nvPicPr>
          <p:cNvPr id="5" name="Picture 4" descr="d8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9" y="1627632"/>
            <a:ext cx="11018057" cy="5047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4</a:t>
            </a:r>
          </a:p>
        </p:txBody>
      </p:sp>
      <p:pic>
        <p:nvPicPr>
          <p:cNvPr id="7" name="Picture 6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RECONSTRUCTION VS RAW DATA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Resonance mode shapes, both flexural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9264"/>
            <a:ext cx="11423599" cy="5705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0662C"/>
                </a:solidFill>
                <a:latin typeface="Aptos"/>
              </a:rPr>
              <a:t>Mode 1 collapses two decades into the last 3 µm; mode 2 arches instead, peaking at x = 174 µm with no node anywhere in the measured span.  </a:t>
            </a:r>
            <a:r>
              <a:rPr sz="1200">
                <a:solidFill>
                  <a:srgbClr val="373A36"/>
                </a:solidFill>
                <a:latin typeface="Aptos"/>
              </a:rPr>
              <a:t>Peak-amplitude error over the withheld positions: mode 1 3.8 % and mode 2 6.4 % for EB two-band + GP, against 7.9 % / 6.2 % for the GP alone and 67 % / 23 % for the bare physics. The right-hand panel is the consequence — mode 1 reverses 180° at its node and mode 2 never does, because it has none here.</a:t>
            </a:r>
          </a:p>
        </p:txBody>
      </p:sp>
      <p:pic>
        <p:nvPicPr>
          <p:cNvPr id="5" name="Picture 4" descr="d9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19" y="1847088"/>
            <a:ext cx="11420856" cy="4107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5</a:t>
            </a:r>
          </a:p>
        </p:txBody>
      </p:sp>
      <p:pic>
        <p:nvPicPr>
          <p:cNvPr id="7" name="Picture 6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FITTING BOTH PEAKS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k₁ is not identifiable from band A — the mode ratio identifies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9264"/>
            <a:ext cx="11423599" cy="5705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0662C"/>
                </a:solidFill>
                <a:latin typeface="Aptos"/>
              </a:rPr>
              <a:t>EB reaches the measured f₂/f₁ = 3.079 at k₁ = 1044 N/m — essentially the Hertz value.  </a:t>
            </a:r>
            <a:r>
              <a:rPr sz="1150">
                <a:solidFill>
                  <a:srgbClr val="373A36"/>
                </a:solidFill>
                <a:latin typeface="Aptos"/>
              </a:rPr>
              <a:t>Over k₁ = 328 → 1291 N/m, f₁ moves 3.8 % while the ratio moves 28 %: the ratio is 7.3× the more sensitive channel. Band A carries the mode shape, band B carries the stiffness. FEM is the model that cannot get there — isotropic saturates at 2.942 over the whole ladder, frictionless at 2.66.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0662C"/>
                </a:solidFill>
                <a:latin typeface="Aptos"/>
              </a:rPr>
              <a:t>Fit both windows with a gain per band and k₁ locks to 989 ± 15 N/m at every n from 3 to 30, with mode 2 inside one 437 Hz bin.  </a:t>
            </a:r>
            <a:r>
              <a:rPr sz="1150">
                <a:solidFill>
                  <a:srgbClr val="373A36"/>
                </a:solidFill>
                <a:latin typeface="Aptos"/>
              </a:rPr>
              <a:t>Band A alone sits at 318–392 and drifts DOWN as n grows; one global gain swings 760–1580. The per-band gain ratio is −9.51 ± 1.24 dB, i.e. mode 2 couples 2.99× weaker — against 3.11× measured independently from the domain-flip data. The gain is measuring the drive asymmetry, not hiding it.</a:t>
            </a:r>
          </a:p>
        </p:txBody>
      </p:sp>
      <p:pic>
        <p:nvPicPr>
          <p:cNvPr id="5" name="Picture 4" descr="d7_dual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19" y="2176272"/>
            <a:ext cx="11420856" cy="39341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BIAS DEPENDENCE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The bias response is large, and it is electrostatic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50976"/>
            <a:ext cx="1142359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6E716D"/>
                </a:solidFill>
                <a:latin typeface="Aptos"/>
              </a:rPr>
              <a:t>7 biases (−6 … +6 V) × 7 positions, 1000 nN, 1 V AC electrical drive on the tip. Each spectrum is read at its OWN resonance peak.</a:t>
            </a:r>
          </a:p>
        </p:txBody>
      </p:sp>
      <p:pic>
        <p:nvPicPr>
          <p:cNvPr id="5" name="Picture 4" descr="d3_bia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16736"/>
            <a:ext cx="11420856" cy="40207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5138928"/>
            <a:ext cx="1042416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662C"/>
                </a:solidFill>
                <a:latin typeface="Aptos"/>
              </a:rPr>
              <a:t>A 100× cancellation in the middle of the sweep, not at an end.  </a:t>
            </a:r>
            <a:r>
              <a:rPr sz="1250">
                <a:solidFill>
                  <a:srgbClr val="373A36"/>
                </a:solidFill>
                <a:latin typeface="Aptos"/>
              </a:rPr>
              <a:t>Monotonic drift cannot do that, and the bias order was identical at every position — so the V-shape is the evidence that this is bias and not time.</a:t>
            </a:r>
          </a:p>
          <a:p>
            <a:pPr>
              <a:spcBef>
                <a:spcPts val="700"/>
              </a:spcBef>
            </a:pPr>
            <a:r>
              <a:rPr sz="1250" b="1">
                <a:solidFill>
                  <a:srgbClr val="00662C"/>
                </a:solidFill>
                <a:latin typeface="Aptos"/>
              </a:rPr>
              <a:t>Z(V) is a straight line through the origin to 3.5–4.4 %.  </a:t>
            </a:r>
            <a:r>
              <a:rPr sz="1250">
                <a:solidFill>
                  <a:srgbClr val="373A36"/>
                </a:solidFill>
                <a:latin typeface="Aptos"/>
              </a:rPr>
              <a:t>That is the signature of one force source scaling with (V − V_cpd). V_cpd = −1.86 ± 0.08 V, flat along the lever — a tip–sample property, reproduced at five independent engages.</a:t>
            </a:r>
          </a:p>
          <a:p>
            <a:pPr>
              <a:spcBef>
                <a:spcPts val="700"/>
              </a:spcBef>
            </a:pPr>
            <a:r>
              <a:rPr sz="1250" b="1">
                <a:solidFill>
                  <a:srgbClr val="00662C"/>
                </a:solidFill>
                <a:latin typeface="Aptos"/>
              </a:rPr>
              <a:t>Q = 206 ± 4 at V = 0, and f_res moves less than 1 kHz across ±6 V.  </a:t>
            </a:r>
            <a:r>
              <a:rPr sz="1250">
                <a:solidFill>
                  <a:srgbClr val="373A36"/>
                </a:solidFill>
                <a:latin typeface="Aptos"/>
              </a:rPr>
              <a:t>Still: randomise the condition order next time — this effect was big enough to be unambiguous; a 10 % effect would not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7</a:t>
            </a:r>
          </a:p>
        </p:txBody>
      </p:sp>
      <p:pic>
        <p:nvPicPr>
          <p:cNvPr id="8" name="Picture 7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BIAS DEPENDENCE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The mode map predicts the bias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50976"/>
            <a:ext cx="1142359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6E716D"/>
                </a:solidFill>
                <a:latin typeface="Aptos"/>
              </a:rPr>
              <a:t>Splitting Z(V) into the part that cancels (the electrostatic slope b) and the part that cannot (|P⊥|, the perpendicular distance from the origin to the fitted line).</a:t>
            </a:r>
          </a:p>
        </p:txBody>
      </p:sp>
      <p:pic>
        <p:nvPicPr>
          <p:cNvPr id="5" name="Picture 4" descr="d4_bia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16736"/>
            <a:ext cx="11420856" cy="40207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5138928"/>
            <a:ext cx="11423599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0662C"/>
                </a:solidFill>
                <a:latin typeface="Aptos"/>
              </a:rPr>
              <a:t>|∂Z/∂V| along the lever IS the mode-A shape.  </a:t>
            </a:r>
            <a:r>
              <a:rPr sz="1250">
                <a:solidFill>
                  <a:srgbClr val="373A36"/>
                </a:solidFill>
                <a:latin typeface="Aptos"/>
              </a:rPr>
              <a:t>The 8-position FEM + GP reconstruction predicts the measured electrostatic slope to ≤ 4 % over 132–196 µm with a single free scale — the sparse map is a calibration for the bias experiment.</a:t>
            </a:r>
          </a:p>
          <a:p>
            <a:pPr>
              <a:spcBef>
                <a:spcPts val="700"/>
              </a:spcBef>
            </a:pPr>
            <a:r>
              <a:rPr sz="1250" b="1">
                <a:solidFill>
                  <a:srgbClr val="00662C"/>
                </a:solidFill>
                <a:latin typeface="Aptos"/>
              </a:rPr>
              <a:t>The residual is instrumental, not tip–sample.  </a:t>
            </a:r>
            <a:r>
              <a:rPr sz="1250">
                <a:solidFill>
                  <a:srgbClr val="373A36"/>
                </a:solidFill>
                <a:latin typeface="Aptos"/>
              </a:rPr>
              <a:t>|b| varies 43× along the beam; |P⊥| only 7×, and corr(log|P⊥|, log|b|) = −0.38. A piezoresponse is driven at the tip like the electrostatic force, so it must be detected through the same mode shape — it would have collapsed at the node too.</a:t>
            </a:r>
          </a:p>
          <a:p>
            <a:pPr>
              <a:spcBef>
                <a:spcPts val="700"/>
              </a:spcBef>
            </a:pPr>
            <a:r>
              <a:rPr sz="1250" b="1">
                <a:solidFill>
                  <a:srgbClr val="00662C"/>
                </a:solidFill>
                <a:latin typeface="Aptos"/>
              </a:rPr>
              <a:t>No measurable piezoresponse: 0.077 ± 0.082 V equivalent DC offset, 1.3 % of a 6 V drive.  </a:t>
            </a:r>
            <a:r>
              <a:rPr sz="1250">
                <a:solidFill>
                  <a:srgbClr val="373A36"/>
                </a:solidFill>
                <a:latin typeface="Aptos"/>
              </a:rPr>
              <a:t>The two positions at 224/225 µm look significant (P/SE ≈ 9–10) only because the detection has nulled |b|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8</a:t>
            </a:r>
          </a:p>
        </p:txBody>
      </p:sp>
      <p:pic>
        <p:nvPicPr>
          <p:cNvPr id="8" name="Picture 7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UNCERTAINTY FROM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How much of the map do we actually believe?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50976"/>
            <a:ext cx="1142359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6E716D"/>
                </a:solidFill>
                <a:latin typeface="Aptos"/>
              </a:rPr>
              <a:t>σ is the predictive sd of one real component of Z. Noise floor, gain, GP length scale and per-frequency variance all come from the revealed block; the withheld positions only ever score.</a:t>
            </a:r>
          </a:p>
        </p:txBody>
      </p:sp>
      <p:pic>
        <p:nvPicPr>
          <p:cNvPr id="5" name="Picture 4" descr="d5_unc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16736"/>
            <a:ext cx="11420856" cy="4107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5486400"/>
            <a:ext cx="9784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0662C"/>
                </a:solidFill>
                <a:latin typeface="Aptos"/>
              </a:rPr>
              <a:t>σ ≈ |Z| exactly on the features worth measuring.  </a:t>
            </a:r>
            <a:r>
              <a:rPr sz="1200">
                <a:solidFill>
                  <a:srgbClr val="373A36"/>
                </a:solidFill>
                <a:latin typeface="Aptos"/>
              </a:rPr>
              <a:t>The antiresonance trough and the node are where the signal is smallest and the reconstruction least constrained. The discrepancy GP carries ~4× more of σ there than the parameter fit does.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00662C"/>
                </a:solidFill>
                <a:latin typeface="Aptos"/>
              </a:rPr>
              <a:t>Both physics arms start cautious and end over-confident.  </a:t>
            </a:r>
            <a:r>
              <a:rPr sz="1200">
                <a:solidFill>
                  <a:srgbClr val="373A36"/>
                </a:solidFill>
                <a:latin typeface="Aptos"/>
              </a:rPr>
              <a:t>z runs 0.59 → 0.99 → 1.63 for FEM + GP and 0.48 → 0.77 → 1.42 for EB + GP over n = 5 → 12 → 30, while GP only sits at 0.4–0.6 throughout. At n = 4 no discrepancy GP is fitted and σ is wrong by 16× / 47×.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9</a:t>
            </a:r>
          </a:p>
        </p:txBody>
      </p:sp>
      <p:pic>
        <p:nvPicPr>
          <p:cNvPr id="8" name="Picture 7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THE FULL MEASURED 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Across 25 kHz – 1.775 MHz the arms do not share a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9264"/>
            <a:ext cx="11423599" cy="5705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0662C"/>
                </a:solidFill>
                <a:latin typeface="Aptos"/>
              </a:rPr>
              <a:t>The physics arms cover 25 % of the measured band; the two-band EB library 49 %; the GP 100 %.  </a:t>
            </a:r>
            <a:r>
              <a:rPr sz="1200">
                <a:solidFill>
                  <a:srgbClr val="373A36"/>
                </a:solidFill>
                <a:latin typeface="Aptos"/>
              </a:rPr>
              <a:t>A band-A library spans u = f/f_res = 0.55–2.05, i.e. 161–600 kHz. Mode 2 sits at u = 3.08 and is simply outside it — and predict_cplx clips, so asking for it returns the library edge: plausible-looking and wrong. Every wide-band score here is masked to the arm’s own coverage.</a:t>
            </a:r>
          </a:p>
        </p:txBody>
      </p:sp>
      <p:pic>
        <p:nvPicPr>
          <p:cNvPr id="5" name="Picture 4" descr="d6_wide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19" y="1572768"/>
            <a:ext cx="11420856" cy="43667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orn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THE FULL MEASURED BAND  · 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Physics wins the tail; the GP wins the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463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6E716D"/>
                </a:solidFill>
                <a:latin typeface="Aptos"/>
              </a:rPr>
              <a:t>median |error|  (dB), n =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5768" y="14081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50093"/>
                </a:solidFill>
                <a:latin typeface="Aptos"/>
              </a:rPr>
              <a:t>GP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7096" y="14081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6BA6"/>
                </a:solidFill>
                <a:latin typeface="Aptos"/>
              </a:rPr>
              <a:t>EB + GP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8424" y="14081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662C"/>
                </a:solidFill>
                <a:latin typeface="Aptos"/>
              </a:rPr>
              <a:t>FEM + GP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1408176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454D"/>
                </a:solidFill>
                <a:latin typeface="Aptos"/>
              </a:rPr>
              <a:t>EB + GP (2-band)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299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below mode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02996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202996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8424" y="202996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202996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180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mode 1 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31800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231800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231800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231800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606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mode 1 antiresonance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60604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260604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8424" y="260604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60604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289407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valley, modes 1–2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289407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289407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8424" y="289407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289407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31821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mode 2 flank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318211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318211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8424" y="318211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318211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4701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mode 2 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5768" y="34701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7096" y="34701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78424" y="34701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34701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375818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above mode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5768" y="375818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0.37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97096" y="375818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424" y="375818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9752" y="375818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73A36"/>
                </a:solidFill>
                <a:latin typeface="Apto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417423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73A36"/>
                </a:solidFill>
                <a:latin typeface="Aptos"/>
              </a:rPr>
              <a:t>signal bins within 3 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15768" y="417423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50093"/>
                </a:solidFill>
                <a:latin typeface="Aptos"/>
              </a:rPr>
              <a:t>97.6 %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97096" y="417423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6BA6"/>
                </a:solidFill>
                <a:latin typeface="Aptos"/>
              </a:rPr>
              <a:t>99.5 %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424" y="417423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662C"/>
                </a:solidFill>
                <a:latin typeface="Aptos"/>
              </a:rPr>
              <a:t>99.5 %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9752" y="417423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454D"/>
                </a:solidFill>
                <a:latin typeface="Aptos"/>
              </a:rPr>
              <a:t>99.1 %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46227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73A36"/>
                </a:solidFill>
                <a:latin typeface="Aptos"/>
              </a:rPr>
              <a:t>coverage of the band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15768" y="4462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50093"/>
                </a:solidFill>
                <a:latin typeface="Aptos"/>
              </a:rPr>
              <a:t>100 %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7096" y="4462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6BA6"/>
                </a:solidFill>
                <a:latin typeface="Aptos"/>
              </a:rPr>
              <a:t>25 %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78424" y="4462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662C"/>
                </a:solidFill>
                <a:latin typeface="Aptos"/>
              </a:rPr>
              <a:t>25 %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9752" y="446227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454D"/>
                </a:solidFill>
                <a:latin typeface="Aptos"/>
              </a:rPr>
              <a:t>49 %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5230368"/>
            <a:ext cx="10058400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0662C"/>
                </a:solidFill>
                <a:latin typeface="Aptos"/>
              </a:rPr>
              <a:t>On the medians the arms are within a hair of each other; on the tail they are not.  </a:t>
            </a:r>
            <a:r>
              <a:rPr sz="1150">
                <a:solidFill>
                  <a:srgbClr val="373A36"/>
                </a:solidFill>
                <a:latin typeface="Aptos"/>
              </a:rPr>
              <a:t>99.1–99.5 % of signal bins land within 3 dB for every physics arm against 96.6–98.0 % for the GP, at every budget from 5 to 30 positions. The physics prior does not make the typical bin better — it removes the bad ones.</a:t>
            </a:r>
          </a:p>
          <a:p>
            <a:pPr>
              <a:spcBef>
                <a:spcPts val="500"/>
              </a:spcBef>
            </a:pPr>
            <a:r>
              <a:rPr sz="1150" b="1">
                <a:solidFill>
                  <a:srgbClr val="00662C"/>
                </a:solidFill>
                <a:latin typeface="Aptos"/>
              </a:rPr>
              <a:t>GP alone from n = 5 is already close to its own ceiling.  </a:t>
            </a:r>
            <a:r>
              <a:rPr sz="1150">
                <a:solidFill>
                  <a:srgbClr val="373A36"/>
                </a:solidFill>
                <a:latin typeface="Aptos"/>
              </a:rPr>
              <a:t>Median on signal bins 0.20 → 0.12 dB and mode 2 0.37 → 0.16 dB from n = 5 to 30, but the 3 dB fraction barely moves: 97.4 → 97.8 %. Past n ≈ 12 more positions buy the GP almost nothing, and it still never locates the node.</a:t>
            </a:r>
          </a:p>
          <a:p>
            <a:pPr>
              <a:spcBef>
                <a:spcPts val="500"/>
              </a:spcBef>
            </a:pPr>
            <a:r>
              <a:rPr sz="1150" b="1">
                <a:solidFill>
                  <a:srgbClr val="00662C"/>
                </a:solidFill>
                <a:latin typeface="Aptos"/>
              </a:rPr>
              <a:t>The two-band EB arm reads both modes — and it pins k₁ to 984 ± 3 N/m at every n from 5 to 30.  </a:t>
            </a:r>
            <a:r>
              <a:rPr sz="1150">
                <a:solidFill>
                  <a:srgbClr val="373A36"/>
                </a:solidFill>
                <a:latin typeface="Aptos"/>
              </a:rPr>
              <a:t>A 0.6 % spread, against 319–394 N/m from band A alone, with mode 2 to 0.18 dB. It needed a 48-point coarse grid: at 16 points the fit settles in a k₁ ≈ 500 basin scoring 0.61 where k₁ = 1008 scores 0.35.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11</a:t>
            </a:r>
          </a:p>
        </p:txBody>
      </p:sp>
      <p:pic>
        <p:nvPicPr>
          <p:cNvPr id="56" name="Picture 55" descr="orn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235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662C"/>
                </a:solidFill>
                <a:latin typeface="Aptos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4864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373A36"/>
                </a:solidFill>
                <a:latin typeface="Aptos"/>
              </a:rPr>
              <a:t>What is new, what is missing, what is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170432"/>
            <a:ext cx="1463040" cy="38100"/>
          </a:xfrm>
          <a:prstGeom prst="rect">
            <a:avLst/>
          </a:prstGeom>
          <a:solidFill>
            <a:srgbClr val="006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353312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0662C"/>
                </a:solidFill>
                <a:latin typeface="Aptos"/>
              </a:rPr>
              <a:t>New in this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10512"/>
            <a:ext cx="358444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— All three libraries re-stitched to KEEP the complex channel — the published builds discarded the phase (FEM at np.abs(), EB by storing log|z|). Each reproduces its published log-amplitude arm exactly.</a:t>
            </a:r>
          </a:p>
          <a:p>
            <a:pPr>
              <a:spcBef>
                <a:spcPts val="900"/>
              </a:spcBef>
            </a:pPr>
            <a:r>
              <a:rPr sz="1150" b="0" i="0">
                <a:solidFill>
                  <a:srgbClr val="373A36"/>
                </a:solidFill>
                <a:latin typeface="Aptos"/>
              </a:rPr>
              <a:t>— Six arms reconstruct amplitude and phase with a per-component predictive σ, split into a parameter term and a discrepancy term.</a:t>
            </a:r>
          </a:p>
          <a:p>
            <a:pPr>
              <a:spcBef>
                <a:spcPts val="900"/>
              </a:spcBef>
            </a:pPr>
            <a:r>
              <a:rPr sz="1150" b="0" i="0">
                <a:solidFill>
                  <a:srgbClr val="373A36"/>
                </a:solidFill>
                <a:latin typeface="Aptos"/>
              </a:rPr>
              <a:t>— Scoring extended from band A to the whole measured 25 kHz – 1.775 MHz, with each arm masked to its own library coverage.</a:t>
            </a:r>
          </a:p>
          <a:p>
            <a:pPr>
              <a:spcBef>
                <a:spcPts val="900"/>
              </a:spcBef>
            </a:pPr>
            <a:r>
              <a:rPr sz="1150" b="0" i="0">
                <a:solidFill>
                  <a:srgbClr val="373A36"/>
                </a:solidFill>
                <a:latin typeface="Aptos"/>
              </a:rPr>
              <a:t>— The bias series is re-analysed on its own resonance peak and tied to the sparse mode map for the first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70432"/>
            <a:ext cx="1463040" cy="38100"/>
          </a:xfrm>
          <a:prstGeom prst="rect">
            <a:avLst/>
          </a:prstGeom>
          <a:solidFill>
            <a:srgbClr val="A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7952" y="1353312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A35C00"/>
                </a:solidFill>
                <a:latin typeface="Aptos"/>
              </a:rPr>
              <a:t>Three corrections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1810512"/>
            <a:ext cx="358444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— Reading a physical contact stiffness off a band-A fit. k₁ is not identifiable there in either model: EB fits 374 N/m but reaches the measured mode ratio at 1044. The older “only FEM recovers a physical k₁” claim was already overturned on 2026-08-12; slide 2 now says so.</a:t>
            </a:r>
          </a:p>
          <a:p>
            <a:pPr>
              <a:spcBef>
                <a:spcPts val="900"/>
              </a:spcBef>
            </a:pPr>
            <a:r>
              <a:rPr sz="1150" b="0" i="0">
                <a:solidFill>
                  <a:srgbClr val="373A36"/>
                </a:solidFill>
                <a:latin typeface="Aptos"/>
              </a:rPr>
              <a:t>— An earlier draft said the EB library could not be rebuilt because eb_models.py and geometry.py were missing. They are not — they live in EB-Solver-CResonance/fem_eb_comparison/py, not in that repo’s src/, which holds only the eb_cr_afm package.</a:t>
            </a:r>
          </a:p>
          <a:p>
            <a:pPr>
              <a:spcBef>
                <a:spcPts val="900"/>
              </a:spcBef>
            </a:pPr>
            <a:r>
              <a:rPr sz="1150" b="0" i="0">
                <a:solidFill>
                  <a:srgbClr val="373A36"/>
                </a:solidFill>
                <a:latin typeface="Aptos"/>
              </a:rPr>
              <a:t>— twoband.fit2g’s 16-point coarse grid in log k₁ is too sparse: at n = 5–8 it settles at k₁ ≈ 500 N/m, where k₁ = 1008 scores 0.35 against 0.61. With 48 points k₁ locks to 984 ± 3 N/m at every n. The published two-band stability at small n was the grid straddling the right basin, not robustness.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170432"/>
            <a:ext cx="1463040" cy="38100"/>
          </a:xfrm>
          <a:prstGeom prst="rect">
            <a:avLst/>
          </a:prstGeom>
          <a:solidFill>
            <a:srgbClr val="004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353312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0454D"/>
                </a:solidFill>
                <a:latin typeface="Aptos"/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1810512"/>
            <a:ext cx="358444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373A36"/>
                </a:solidFill>
                <a:latin typeface="Aptos"/>
              </a:rPr>
              <a:t>— Nothing physical exists above ~1 MHz: even the extended library stops at u = 3.45. Modes above 2 need a further extension, or the GP.</a:t>
            </a:r>
          </a:p>
          <a:p>
            <a:pPr>
              <a:spcBef>
                <a:spcPts val="900"/>
              </a:spcBef>
            </a:pPr>
            <a:r>
              <a:rPr sz="1150" b="0" i="0">
                <a:solidFill>
                  <a:srgbClr val="373A36"/>
                </a:solidFill>
                <a:latin typeface="Aptos"/>
              </a:rPr>
              <a:t>— The shared 41° phase error is the live physics question — two unrelated forward models failing identically points at the drive or detection model, not the beam.</a:t>
            </a:r>
          </a:p>
          <a:p>
            <a:pPr>
              <a:spcBef>
                <a:spcPts val="900"/>
              </a:spcBef>
            </a:pPr>
            <a:r>
              <a:rPr sz="1150" b="0" i="0">
                <a:solidFill>
                  <a:srgbClr val="373A36"/>
                </a:solidFill>
                <a:latin typeface="Aptos"/>
              </a:rPr>
              <a:t>— Re-derive the GP variance so σ stays calibrated past n = 12; randomise the condition order in the next bias series; and the GP’s 2.2 % beyond-3 dB tail is still unexplained.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170432"/>
            <a:ext cx="1463040" cy="38100"/>
          </a:xfrm>
          <a:prstGeom prst="rect">
            <a:avLst/>
          </a:prstGeom>
          <a:solidFill>
            <a:srgbClr val="006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170432"/>
            <a:ext cx="1463040" cy="38100"/>
          </a:xfrm>
          <a:prstGeom prst="rect">
            <a:avLst/>
          </a:prstGeom>
          <a:solidFill>
            <a:srgbClr val="A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170432"/>
            <a:ext cx="1463040" cy="38100"/>
          </a:xfrm>
          <a:prstGeom prst="rect">
            <a:avLst/>
          </a:prstGeom>
          <a:solidFill>
            <a:srgbClr val="004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605332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6E716D"/>
                </a:solidFill>
                <a:latin typeface="Aptos"/>
              </a:rPr>
              <a:t>Everything here is leakage-safe: each reconstructor sees only the revealed indices, their spectra and the frequency axis. Scripts: libraries/build_femlib_cplx.py, buildlib_cplx.py, buildlib_x_cplx.py, src/cplxrec.py, src/bias.py, src/run_wideband.py, figures/d_*.py.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59007" y="6309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E716D"/>
                </a:solidFill>
                <a:latin typeface="Aptos"/>
              </a:rPr>
              <a:t>12</a:t>
            </a:r>
          </a:p>
        </p:txBody>
      </p:sp>
      <p:pic>
        <p:nvPicPr>
          <p:cNvPr id="18" name="Picture 17" descr="orn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91072"/>
            <a:ext cx="1234440" cy="2972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